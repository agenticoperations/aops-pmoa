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cover. Product definition and repository branch are based on the user-provided PMOA submission context and the tested feat/mcp-paid-http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primitives are presented as infrastructure inputs. AOPS is positioned as the organizational policy, approval, budget, emergency-control, and evidence layer before 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docs/qa/2026-07-13-x402-paid-http-evidence.md and docs/qa/2026-07-12-testnet-release-evidence.md. Fresh npm run verify on 2026-07-26 passed lint, typecheck, production builds, and 878/878 tests. UI image is an approved AOPS product-design capture, not live production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reflects the current AOPS authorization, reservation, execution, reconciliation, and evidence architecture. It does not claim Arc settlement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UI images are first-party captures from the approved AOPS console design aid. They are used to demonstrate information architecture and product surface, not to claim live production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proof is Circle-native and uses Circle-supported test rails. The slide explicitly labels Arc as the next native environment, not current settlement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forward-looking Checkpoint 3 milestones. None are presented as already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company direction. The NOW column is current product proof; NEXT and COMPANY are explicitly forward-looking.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OPS_MASTER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OPS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141732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5160" y="51206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ON ARC · CHECKPOINT 2 · AGENTIC ECONOMY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1572768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Programmable authority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for autonomous money.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381304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agents economic autonomy without giving them unrestricted authority.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452360" y="1938528"/>
            <a:ext cx="3401568" cy="0"/>
          </a:xfrm>
          <a:prstGeom prst="line">
            <a:avLst/>
          </a:prstGeom>
          <a:noFill/>
          <a:ln w="13970">
            <a:solidFill>
              <a:srgbClr val="D7DEE9"/>
            </a:solidFill>
            <a:prstDash val="solid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7452360" y="2761488"/>
            <a:ext cx="3401568" cy="0"/>
          </a:xfrm>
          <a:prstGeom prst="line">
            <a:avLst/>
          </a:prstGeom>
          <a:noFill/>
          <a:ln w="13970">
            <a:solidFill>
              <a:srgbClr val="D7DEE9"/>
            </a:solidFill>
            <a:prstDash val="solid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7452360" y="3584448"/>
            <a:ext cx="3401568" cy="0"/>
          </a:xfrm>
          <a:prstGeom prst="line">
            <a:avLst/>
          </a:prstGeom>
          <a:noFill/>
          <a:ln w="13970">
            <a:solidFill>
              <a:srgbClr val="D7DEE9"/>
            </a:solidFill>
            <a:prstDash val="solid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235440" y="1234440"/>
            <a:ext cx="0" cy="3090672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8933688" y="2459736"/>
            <a:ext cx="603504" cy="603504"/>
          </a:xfrm>
          <a:prstGeom prst="ellipse">
            <a:avLst/>
          </a:prstGeom>
          <a:solidFill>
            <a:srgbClr val="F5F2EA"/>
          </a:solidFill>
          <a:ln w="22860">
            <a:solidFill>
              <a:srgbClr val="315E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53144" y="2679192"/>
            <a:ext cx="164592" cy="164592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3502152"/>
            <a:ext cx="173736" cy="173736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96912" y="1554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787384" y="44988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113264" y="3858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ACTION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58368" y="5961888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658368" y="6126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AgenticOperations/AOPS-PMOA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98080" y="6126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Latest working branch · feat/mcp-paid-http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MISSING ORGANIZATIONAL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Circle gives agents programmable money. Organizations still need control.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CIRCLE PRIMITIVES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84248"/>
            <a:ext cx="146304" cy="146304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745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Wallets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12848" y="1892808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 and 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87552" y="2267712"/>
            <a:ext cx="27889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2770632"/>
            <a:ext cx="146304" cy="146304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609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USDC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12848" y="2679192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stable value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87552" y="3054096"/>
            <a:ext cx="27889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85800" y="3557016"/>
            <a:ext cx="146304" cy="146304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447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Gateway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12848" y="3465576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 supported networks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7552" y="3840480"/>
            <a:ext cx="27889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85800" y="4343400"/>
            <a:ext cx="146304" cy="146304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2336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x402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2848" y="4251960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machine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7552" y="4626864"/>
            <a:ext cx="27889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617720" y="1600200"/>
            <a:ext cx="1792224" cy="3401568"/>
          </a:xfrm>
          <a:prstGeom prst="roundRect">
            <a:avLst>
              <a:gd name="adj" fmla="val 6633"/>
            </a:avLst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AOPS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4910328" y="26334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513832" y="3593592"/>
            <a:ext cx="0" cy="438912"/>
          </a:xfrm>
          <a:prstGeom prst="line">
            <a:avLst/>
          </a:prstGeom>
          <a:noFill/>
          <a:ln w="25400">
            <a:solidFill>
              <a:srgbClr val="71B7FF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422392" y="3986784"/>
            <a:ext cx="182880" cy="182880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30682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signing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14032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ORGANIZATIONAL AUTHORITY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18653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Roles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114032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may act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290304" y="18653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Policy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290304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may happen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114032" y="28895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Approvals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114032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humans intervene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290304" y="28895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Budgets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290304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much is at risk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114032" y="3913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Emergency control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114032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autonomy stops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290304" y="3913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Evidence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290304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can be proven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76656" y="5431536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i="1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wedge is not another wallet. It is the layer that decides whether money may move—and preserves why.</a:t>
            </a:r>
            <a:endParaRPr lang="en-US" sz="1750" dirty="0"/>
          </a:p>
        </p:txBody>
      </p:sp>
      <p:sp>
        <p:nvSpPr>
          <p:cNvPr id="41" name="Shape 39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thesis · programmable money needs programmable authority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PROGRESS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control foundation already works.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878 / 878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04088" y="1984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tests passed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6656" y="2404872"/>
            <a:ext cx="3054096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4944" y="2761488"/>
            <a:ext cx="109728" cy="109728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6974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Role-level policy inheritance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3200400"/>
            <a:ext cx="109728" cy="109728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1363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Credentialed hosted MCP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" y="3639312"/>
            <a:ext cx="109728" cy="109728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5753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 and spend controls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4078224"/>
            <a:ext cx="109728" cy="109728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142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Circle USDC execution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944" y="4517136"/>
            <a:ext cx="109728" cy="109728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4531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Replay-safe paid HTTP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" y="4956048"/>
            <a:ext cx="109728" cy="109728"/>
          </a:xfrm>
          <a:prstGeom prst="ellipse">
            <a:avLst/>
          </a:prstGeom>
          <a:solidFill>
            <a:srgbClr val="71B7FF"/>
          </a:solidFill>
          <a:ln w="12700">
            <a:solidFill>
              <a:srgbClr val="71B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892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Hash-chained evidence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9080" y="1417320"/>
            <a:ext cx="7479792" cy="4700016"/>
          </a:xfrm>
          <a:prstGeom prst="roundRect">
            <a:avLst>
              <a:gd name="adj" fmla="val 116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pic>
        <p:nvPicPr>
          <p:cNvPr id="20" name="AOPS console overview" descr="AOPS consol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1444752"/>
            <a:ext cx="7424928" cy="464515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869680" y="1673352"/>
            <a:ext cx="2331720" cy="274320"/>
          </a:xfrm>
          <a:prstGeom prst="roundRect">
            <a:avLst>
              <a:gd name="adj" fmla="val 33333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70264" y="1682496"/>
            <a:ext cx="2130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PRODUCT SURFACE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58368" y="5550408"/>
            <a:ext cx="3072384" cy="539496"/>
          </a:xfrm>
          <a:prstGeom prst="roundRect">
            <a:avLst>
              <a:gd name="adj" fmla="val 10169"/>
            </a:avLst>
          </a:prstGeom>
          <a:solidFill>
            <a:srgbClr val="071A3D"/>
          </a:solidFill>
          <a:ln w="12700">
            <a:solidFill>
              <a:srgbClr val="071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" y="5650992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MCP-only  →  0.001 USDC  →  HTTP 200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on feat/mcp-paid-http · code checkpoint add41aa · Arc-native settlement is next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One policy follows the agent from intent to evidence.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05840" y="2852928"/>
            <a:ext cx="1005840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14984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1792" y="186537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Mandate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1792" y="22219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 + role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52728" y="2496312"/>
            <a:ext cx="0" cy="173736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423160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29968" y="33101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Credential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29968" y="36667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scoped identity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60904" y="3090672"/>
            <a:ext cx="0" cy="201168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831336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38144" y="186537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MCP intent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38144" y="22219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69080" y="2496312"/>
            <a:ext cx="0" cy="173736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239512" y="2615184"/>
            <a:ext cx="475488" cy="475488"/>
          </a:xfrm>
          <a:prstGeom prst="ellipse">
            <a:avLst/>
          </a:prstGeom>
          <a:solidFill>
            <a:srgbClr val="315EF6"/>
          </a:solidFill>
          <a:ln w="15240">
            <a:solidFill>
              <a:srgbClr val="315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Policy + hold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46320" y="36667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 budget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77256" y="3090672"/>
            <a:ext cx="0" cy="201168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647688" y="2615184"/>
            <a:ext cx="475488" cy="475488"/>
          </a:xfrm>
          <a:prstGeom prst="ellipse">
            <a:avLst/>
          </a:prstGeom>
          <a:solidFill>
            <a:srgbClr val="315EF6"/>
          </a:solidFill>
          <a:ln w="15240">
            <a:solidFill>
              <a:srgbClr val="315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54496" y="186537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Decision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254496" y="22219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or deny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85432" y="2496312"/>
            <a:ext cx="0" cy="173736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055864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662672" y="33101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Circle execution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662672" y="36667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 / rail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93608" y="3090672"/>
            <a:ext cx="0" cy="201168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464040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070848" y="186537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Service result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070848" y="22219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returns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701784" y="2496312"/>
            <a:ext cx="0" cy="173736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872216" y="2615184"/>
            <a:ext cx="475488" cy="475488"/>
          </a:xfrm>
          <a:prstGeom prst="ellipse">
            <a:avLst/>
          </a:prstGeom>
          <a:solidFill>
            <a:srgbClr val="FCFBF7"/>
          </a:solidFill>
          <a:ln w="15240">
            <a:solidFill>
              <a:srgbClr val="071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17936" y="2724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479024" y="33101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Evidence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0479024" y="36667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reconcile + prove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1109960" y="3090672"/>
            <a:ext cx="0" cy="201168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4828032" y="4325112"/>
            <a:ext cx="0" cy="438912"/>
          </a:xfrm>
          <a:prstGeom prst="line">
            <a:avLst/>
          </a:prstGeom>
          <a:noFill/>
          <a:ln w="19050">
            <a:solidFill>
              <a:srgbClr val="315EF6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4736592" y="4700016"/>
            <a:ext cx="182880" cy="182880"/>
          </a:xfrm>
          <a:prstGeom prst="ellipse">
            <a:avLst/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52728" y="4919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Authorization is not enough.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5285232" y="4946904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is reserved before execution and reconciled after the result.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→ policy → execution → outcome · one continuous authority record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SURFACE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Built as an operating system, not a wallet wrapper.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2144" y="1417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Define authority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2144" y="1810512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Roles, policy, budgets, approvals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152144" y="2258568"/>
            <a:ext cx="2450592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8368" y="25237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52144" y="24963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Operate 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2144" y="2889504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Credentials, status, emergency control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152144" y="3337560"/>
            <a:ext cx="2450592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8368" y="36027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52144" y="35753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Govern money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" y="3968496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Treasury boundaries and execution state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52144" y="4416552"/>
            <a:ext cx="2450592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58368" y="4681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" y="46542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Prove outcomes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2144" y="5047488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Decisions, events, reconciliation, evidence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977640" y="141732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pic>
        <p:nvPicPr>
          <p:cNvPr id="20" name="AOPS overview surface" descr="AOPS overview su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1444752"/>
            <a:ext cx="5248656" cy="328269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40296" y="3401568"/>
            <a:ext cx="4608576" cy="2898648"/>
          </a:xfrm>
          <a:prstGeom prst="roundRect">
            <a:avLst>
              <a:gd name="adj" fmla="val 1893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pic>
        <p:nvPicPr>
          <p:cNvPr id="22" name="AOPS controls surface" descr="AOPS controls sur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429000"/>
            <a:ext cx="4553712" cy="284378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977640" y="4425696"/>
            <a:ext cx="2816352" cy="1783080"/>
          </a:xfrm>
          <a:prstGeom prst="roundRect">
            <a:avLst>
              <a:gd name="adj" fmla="val 307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pic>
        <p:nvPicPr>
          <p:cNvPr id="24" name="AOPS operations surface" descr="AOPS operations sur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4453128"/>
            <a:ext cx="2761488" cy="172821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270248" y="1682496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370832" y="169164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7232904" y="3666744"/>
            <a:ext cx="987552" cy="274320"/>
          </a:xfrm>
          <a:prstGeom prst="roundRect">
            <a:avLst>
              <a:gd name="adj" fmla="val 33333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33488" y="367588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224528" y="4681728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25112" y="46908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32" name="Text 27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Approved AOPS console-system captures · visual design aid, not production data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DIRECTION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Circle-native infrastructure, designed toward Arc.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768096" y="2313432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 + intent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075688" y="2276856"/>
            <a:ext cx="374904" cy="0"/>
          </a:xfrm>
          <a:prstGeom prst="line">
            <a:avLst/>
          </a:prstGeom>
          <a:noFill/>
          <a:ln w="1143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0592" y="171907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192024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HOSTED MCP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560320" y="231343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credentialed tools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959352" y="2276856"/>
            <a:ext cx="384048" cy="0"/>
          </a:xfrm>
          <a:prstGeom prst="line">
            <a:avLst/>
          </a:prstGeom>
          <a:noFill/>
          <a:ln w="1143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1719072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9202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AOPS CONTROL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453128" y="231343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DDE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· approval · hold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217920" y="2276856"/>
            <a:ext cx="402336" cy="0"/>
          </a:xfrm>
          <a:prstGeom prst="line">
            <a:avLst/>
          </a:prstGeom>
          <a:noFill/>
          <a:ln w="1143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0256" y="1719072"/>
            <a:ext cx="1847088" cy="1115568"/>
          </a:xfrm>
          <a:prstGeom prst="roundRect">
            <a:avLst>
              <a:gd name="adj" fmla="val 655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192024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CIRCLE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729984" y="231343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 · Gateway · x402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8467344" y="2276856"/>
            <a:ext cx="420624" cy="0"/>
          </a:xfrm>
          <a:prstGeom prst="line">
            <a:avLst/>
          </a:prstGeom>
          <a:noFill/>
          <a:ln w="1143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87968" y="1719072"/>
            <a:ext cx="1444752" cy="1115568"/>
          </a:xfrm>
          <a:prstGeom prst="roundRect">
            <a:avLst>
              <a:gd name="adj" fmla="val 6557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92024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997696" y="231343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result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10332720" y="2276856"/>
            <a:ext cx="384048" cy="0"/>
          </a:xfrm>
          <a:prstGeom prst="line">
            <a:avLst/>
          </a:prstGeom>
          <a:noFill/>
          <a:ln w="11430">
            <a:solidFill>
              <a:srgbClr val="071A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716768" y="1719072"/>
            <a:ext cx="822960" cy="1115568"/>
          </a:xfrm>
          <a:prstGeom prst="roundRect">
            <a:avLst>
              <a:gd name="adj" fmla="val 8889"/>
            </a:avLst>
          </a:prstGeom>
          <a:solidFill>
            <a:srgbClr val="FCFB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35640" y="192024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10826496" y="231343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67512" y="31821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CURRENTLY PROVEN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29968" y="3273552"/>
            <a:ext cx="6199632" cy="0"/>
          </a:xfrm>
          <a:prstGeom prst="line">
            <a:avLst/>
          </a:prstGeom>
          <a:noFill/>
          <a:ln w="10160">
            <a:solidFill>
              <a:srgbClr val="D7DEE9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566160" y="3502152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3511296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53712" y="3502152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351129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22392" y="3502152"/>
            <a:ext cx="841248" cy="274320"/>
          </a:xfrm>
          <a:prstGeom prst="roundRect">
            <a:avLst>
              <a:gd name="adj" fmla="val 3333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351129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82512" y="3502152"/>
            <a:ext cx="1170432" cy="274320"/>
          </a:xfrm>
          <a:prstGeom prst="roundRect">
            <a:avLst>
              <a:gd name="adj" fmla="val 3333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3096" y="351129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HTTP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71816" y="3502152"/>
            <a:ext cx="1069848" cy="274320"/>
          </a:xfrm>
          <a:prstGeom prst="roundRect">
            <a:avLst>
              <a:gd name="adj" fmla="val 33333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351129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407408"/>
            <a:ext cx="12191695" cy="2450592"/>
          </a:xfrm>
          <a:prstGeom prst="rect">
            <a:avLst/>
          </a:prstGeom>
          <a:solidFill>
            <a:srgbClr val="071A3D"/>
          </a:solidFill>
          <a:ln w="12700">
            <a:solidFill>
              <a:srgbClr val="071A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745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1B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NATIVE ENVIRONMENT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" y="509320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Arc</a:t>
            </a:r>
            <a:endParaRPr lang="en-US" sz="4300" dirty="0"/>
          </a:p>
        </p:txBody>
      </p:sp>
      <p:sp>
        <p:nvSpPr>
          <p:cNvPr id="42" name="Text 40"/>
          <p:cNvSpPr/>
          <p:nvPr/>
        </p:nvSpPr>
        <p:spPr>
          <a:xfrm>
            <a:off x="2898648" y="5257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USDC-native settlement · agent transactions · economic proof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887968" y="4818888"/>
            <a:ext cx="2578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1B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Circle-supported compatibility proof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796528" y="518464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· Arbitrum · Polygon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Optimism · Avalanche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8368" y="6053328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Current rails prove portability. Arc becomes the product’s native economic environment next.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CHECKPOINT 3 FOCUS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Next: make Arc the native execution environment.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8992" y="2313432"/>
            <a:ext cx="10040112" cy="0"/>
          </a:xfrm>
          <a:prstGeom prst="line">
            <a:avLst/>
          </a:prstGeom>
          <a:noFill/>
          <a:ln w="15240">
            <a:solidFill>
              <a:srgbClr val="D7DEE9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08176" y="2066544"/>
            <a:ext cx="493776" cy="493776"/>
          </a:xfrm>
          <a:prstGeom prst="ellipse">
            <a:avLst/>
          </a:prstGeom>
          <a:solidFill>
            <a:srgbClr val="315EF6"/>
          </a:solidFill>
          <a:ln w="13970">
            <a:solidFill>
              <a:srgbClr val="315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3896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290779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Arc Testnet settlement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8952" y="36576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the proven execution path onto Arc.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21024" y="2066544"/>
            <a:ext cx="493776" cy="493776"/>
          </a:xfrm>
          <a:prstGeom prst="ellipse">
            <a:avLst/>
          </a:prstGeom>
          <a:solidFill>
            <a:srgbClr val="FCFBF7"/>
          </a:solidFill>
          <a:ln w="13970">
            <a:solidFill>
              <a:srgbClr val="071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98648" y="290779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Arc-aware wallet + Gateway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971800" y="36576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policy, wallet state, and rail behavior.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33872" y="2066544"/>
            <a:ext cx="493776" cy="493776"/>
          </a:xfrm>
          <a:prstGeom prst="ellipse">
            <a:avLst/>
          </a:prstGeom>
          <a:solidFill>
            <a:srgbClr val="FCFBF7"/>
          </a:solidFill>
          <a:ln w="13970">
            <a:solidFill>
              <a:srgbClr val="071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11496" y="290779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Governed paid-service flow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184648" y="36576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 intent, payment, result, and proof on Arc.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2066544"/>
            <a:ext cx="493776" cy="493776"/>
          </a:xfrm>
          <a:prstGeom prst="ellipse">
            <a:avLst/>
          </a:prstGeom>
          <a:solidFill>
            <a:srgbClr val="FCFBF7"/>
          </a:solidFill>
          <a:ln w="13970">
            <a:solidFill>
              <a:srgbClr val="071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24344" y="290779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Production resilience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397496" y="36576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deployment, observability, backup, and recovery gaps.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59568" y="2066544"/>
            <a:ext cx="493776" cy="493776"/>
          </a:xfrm>
          <a:prstGeom prst="ellipse">
            <a:avLst/>
          </a:prstGeom>
          <a:solidFill>
            <a:srgbClr val="FCFBF7"/>
          </a:solidFill>
          <a:ln w="13970">
            <a:solidFill>
              <a:srgbClr val="071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537192" y="290779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Company-grade UX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610344" y="36576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Center missions, providers, and measurable outcomes.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937760"/>
            <a:ext cx="10863072" cy="804672"/>
          </a:xfrm>
          <a:prstGeom prst="roundRect">
            <a:avLst>
              <a:gd name="adj" fmla="val 6818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166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15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test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40280" y="510235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71A3D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 real agent purchases a service on Arc, stays inside an organizational mandate, and leaves a verifiable outcome trail.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570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next checkpoint is integration + product hardening, not a second feature inventory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OPS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48056"/>
            <a:ext cx="141732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5440" y="5212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71B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DIRECTION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1133856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From agent control to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economic operations.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80760" y="1399032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AD6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AOPS becomes the organizational authority layer between autonomous agents and the economic services they use.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862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1B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323697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Governed execution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368" y="38313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· approvals · budgets · MCP · evidence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005072" y="2862072"/>
            <a:ext cx="0" cy="1645920"/>
          </a:xfrm>
          <a:prstGeom prst="line">
            <a:avLst/>
          </a:prstGeom>
          <a:noFill/>
          <a:ln w="8890">
            <a:solidFill>
              <a:srgbClr val="36517A"/>
            </a:solidFill>
            <a:prstDash val="solid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4315968" y="2862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FA4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315968" y="323697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Arc-native operations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315968" y="38313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USDC settlement · paid services · resilient control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7662672" y="2862072"/>
            <a:ext cx="0" cy="1645920"/>
          </a:xfrm>
          <a:prstGeom prst="line">
            <a:avLst/>
          </a:prstGeom>
          <a:noFill/>
          <a:ln w="8890">
            <a:solidFill>
              <a:srgbClr val="36517A"/>
            </a:solidFill>
            <a:prstDash val="solid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7973568" y="2862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FA4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973568" y="323697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Economic authority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973568" y="38313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Provider commerce · treasury orchestration · outcome proof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58368" y="5047488"/>
            <a:ext cx="10863072" cy="0"/>
          </a:xfrm>
          <a:prstGeom prst="line">
            <a:avLst/>
          </a:prstGeom>
          <a:noFill/>
          <a:ln w="8890">
            <a:solidFill>
              <a:srgbClr val="36517A"/>
            </a:solidFill>
            <a:prstDash val="solid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658368" y="5330952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Programmable money needs programmable authority.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034272" y="5367528"/>
            <a:ext cx="1078992" cy="274320"/>
          </a:xfrm>
          <a:prstGeom prst="roundRect">
            <a:avLst>
              <a:gd name="adj" fmla="val 33333"/>
            </a:avLst>
          </a:prstGeom>
          <a:solidFill>
            <a:srgbClr val="315EF6"/>
          </a:solidFill>
          <a:ln w="12700">
            <a:solidFill>
              <a:srgbClr val="315E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34856" y="537667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138160" y="58247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AgenticOperations/AOPS-PMOA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138160" y="6144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feat/mcp-paid-http · tested checkpoint add41aa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8890">
            <a:solidFill>
              <a:srgbClr val="36517A"/>
            </a:solidFill>
            <a:prstDash val="solid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658368" y="6473952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0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on Arc · Checkpoint 2 · Agentic Economy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8309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9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ow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AgenticOperations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AOPS — Programmable authority for autonomous money</dc:title>
  <dc:subject>Build on Arc — Checkpoint 2</dc:subject>
  <dc:creator>AgenticOperations</dc:creator>
  <cp:lastModifiedBy>AgenticOperations</cp:lastModifiedBy>
  <cp:revision>1</cp:revision>
  <dcterms:created xsi:type="dcterms:W3CDTF">2026-07-26T18:07:58Z</dcterms:created>
  <dcterms:modified xsi:type="dcterms:W3CDTF">2026-07-26T18:07:58Z</dcterms:modified>
</cp:coreProperties>
</file>